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2" r:id="rId3"/>
    <p:sldId id="257" r:id="rId4"/>
    <p:sldId id="258" r:id="rId5"/>
    <p:sldId id="280" r:id="rId6"/>
    <p:sldId id="260" r:id="rId7"/>
    <p:sldId id="259" r:id="rId8"/>
    <p:sldId id="277" r:id="rId9"/>
    <p:sldId id="266" r:id="rId10"/>
    <p:sldId id="279" r:id="rId11"/>
    <p:sldId id="282" r:id="rId12"/>
    <p:sldId id="268" r:id="rId13"/>
    <p:sldId id="284" r:id="rId14"/>
    <p:sldId id="263" r:id="rId15"/>
    <p:sldId id="285" r:id="rId16"/>
    <p:sldId id="286" r:id="rId17"/>
    <p:sldId id="278" r:id="rId18"/>
    <p:sldId id="281" r:id="rId19"/>
    <p:sldId id="271" r:id="rId20"/>
    <p:sldId id="287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8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68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7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B46E2-B25C-9307-9686-7B6A84583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A9038-F1AF-CDD6-AF74-2A43B69D3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499D2-DAB6-3A5C-4E7B-72D68A0DB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2CDE0-8E74-ED4D-607C-FA3F589AEE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20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5B7E0-B8F2-544D-67BD-7F03330E9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C6ABA-B1B6-D763-7121-2BAF43C4C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2A554-0C6A-CC64-1EF1-F228B7157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DD751-92DF-5D22-13A7-F0EFCFD1E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90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43118-FF52-742E-E3EF-52A81718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704D7-FF0E-0BE5-4387-A30AFA7F3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E7901-67F5-71DE-4F8E-FCAB24DD9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31F01-136E-02D3-04E2-F7DFB3431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27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D5898-351D-ABE4-D8FA-58D5AB16B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A2361-3B9A-6378-5B3D-D5B7A4AAD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1D500-FE11-1946-8A4A-41727A55D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703A5-5782-4ABE-B90B-26AC325116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01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29D1-0477-4AFA-567E-3A44032D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097C1-4826-FD1B-6289-16CA9A75E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25759-0952-4692-9C82-AC39F9243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09AF0-FD5B-EF6A-69AC-EB33E4E683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73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B24A-22FA-CE16-4E10-36702B04B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5837A-2CB2-86AC-55E8-D934B8115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F696B-7322-4C6E-3A1D-FF2CF1381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EFBD9-5662-C64D-237D-034F38CA3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07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2F250-9F3A-1B0E-7A5C-4DED322A1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15643-E9E2-F1DE-AADF-C82987184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01B9C-7A56-4141-74F9-F4D8F9F70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9B90D-C00B-0631-E818-B98196572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905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758/s13421-024-01526-7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Computational Thinking, Artificial Intelligence and the Extended Mind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6B6D4"/>
                </a:solidFill>
              </a:rPr>
              <a:t>Strategies for Understanding the Future of the Interface between Human Cognition and Computation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James VanSlyke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Baylor Symposium on Faith and Culture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</a:rPr>
              <a:t>What time is it? </a:t>
            </a:r>
            <a:endParaRPr lang="en-US" sz="2800" dirty="0"/>
          </a:p>
        </p:txBody>
      </p:sp>
      <p:sp>
        <p:nvSpPr>
          <p:cNvPr id="25" name="Text 19"/>
          <p:cNvSpPr/>
          <p:nvPr/>
        </p:nvSpPr>
        <p:spPr>
          <a:xfrm>
            <a:off x="91440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</a:rPr>
              <a:t>Person A uses Person B as an external cognitive resource—a living extension of their mind</a:t>
            </a:r>
            <a:endParaRPr lang="en-US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DCD51E3-F8E3-AD79-1D21-EDF02007F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8" y="104431"/>
            <a:ext cx="7112833" cy="47418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Questions??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1887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Does she </a:t>
            </a:r>
            <a:r>
              <a:rPr lang="en-US" sz="1400" b="1" i="1" dirty="0">
                <a:solidFill>
                  <a:srgbClr val="334155"/>
                </a:solidFill>
              </a:rPr>
              <a:t>know</a:t>
            </a:r>
            <a:r>
              <a:rPr lang="en-US" sz="1400" dirty="0">
                <a:solidFill>
                  <a:srgbClr val="334155"/>
                </a:solidFill>
              </a:rPr>
              <a:t> what time it is? 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10912" y="11887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Knowledge – the cognitive calculation of some type of information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Things we </a:t>
            </a:r>
            <a:r>
              <a:rPr lang="en-US" sz="1400" i="1" dirty="0">
                <a:solidFill>
                  <a:srgbClr val="334155"/>
                </a:solidFill>
              </a:rPr>
              <a:t>know</a:t>
            </a:r>
            <a:r>
              <a:rPr lang="en-US" sz="1400" dirty="0">
                <a:solidFill>
                  <a:srgbClr val="334155"/>
                </a:solidFill>
              </a:rPr>
              <a:t> must come from </a:t>
            </a:r>
            <a:r>
              <a:rPr lang="en-US" sz="1400" i="1" dirty="0">
                <a:solidFill>
                  <a:srgbClr val="334155"/>
                </a:solidFill>
              </a:rPr>
              <a:t>inside</a:t>
            </a:r>
            <a:r>
              <a:rPr lang="en-US" sz="1400" dirty="0">
                <a:solidFill>
                  <a:srgbClr val="334155"/>
                </a:solidFill>
              </a:rPr>
              <a:t> our own cognitive structures or our own brain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5661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</a:rPr>
              <a:t>What is the role of human cognition as a node in this new network of knowledge when AI can provide pre-digested content?</a:t>
            </a:r>
            <a:endParaRPr lang="en-US" sz="1600" dirty="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C12BEF26-5511-7F9B-9E96-5CA14DA15037}"/>
              </a:ext>
            </a:extLst>
          </p:cNvPr>
          <p:cNvSpPr/>
          <p:nvPr/>
        </p:nvSpPr>
        <p:spPr>
          <a:xfrm>
            <a:off x="530352" y="3008027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414E179A-74B3-8F0F-2471-C69808C88CF2}"/>
              </a:ext>
            </a:extLst>
          </p:cNvPr>
          <p:cNvSpPr/>
          <p:nvPr/>
        </p:nvSpPr>
        <p:spPr>
          <a:xfrm>
            <a:off x="493776" y="3008027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48F67C10-62A9-C6C1-2AB6-D17103CD9C06}"/>
              </a:ext>
            </a:extLst>
          </p:cNvPr>
          <p:cNvSpPr/>
          <p:nvPr/>
        </p:nvSpPr>
        <p:spPr>
          <a:xfrm>
            <a:off x="731520" y="3282347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OR,  </a:t>
            </a:r>
            <a:endParaRPr lang="en-US" sz="1400" dirty="0">
              <a:solidFill>
                <a:srgbClr val="334155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Is knowledge not simply what is inside our own minds? </a:t>
            </a:r>
            <a:r>
              <a:rPr lang="en-US" sz="1400" b="1" dirty="0">
                <a:solidFill>
                  <a:srgbClr val="334155"/>
                </a:solidFill>
              </a:rPr>
              <a:t> </a:t>
            </a:r>
            <a:endParaRPr lang="en-US" sz="1400" b="1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B203EC7F-0A4D-EEF0-25D5-AE719AAD902F}"/>
              </a:ext>
            </a:extLst>
          </p:cNvPr>
          <p:cNvSpPr/>
          <p:nvPr/>
        </p:nvSpPr>
        <p:spPr>
          <a:xfrm>
            <a:off x="4791456" y="3008027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8FAF2152-AA5B-488D-AD89-1B6056B39693}"/>
              </a:ext>
            </a:extLst>
          </p:cNvPr>
          <p:cNvSpPr/>
          <p:nvPr/>
        </p:nvSpPr>
        <p:spPr>
          <a:xfrm>
            <a:off x="4754880" y="3008027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E379F126-AA0B-8D3C-99A7-925DF2E5D076}"/>
              </a:ext>
            </a:extLst>
          </p:cNvPr>
          <p:cNvSpPr/>
          <p:nvPr/>
        </p:nvSpPr>
        <p:spPr>
          <a:xfrm>
            <a:off x="4992624" y="3282347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Knowledge – is our ability to </a:t>
            </a:r>
            <a:r>
              <a:rPr lang="en-US" sz="1400" i="1" dirty="0">
                <a:solidFill>
                  <a:srgbClr val="334155"/>
                </a:solidFill>
              </a:rPr>
              <a:t>point to </a:t>
            </a:r>
            <a:r>
              <a:rPr lang="en-US" sz="1400" dirty="0">
                <a:solidFill>
                  <a:srgbClr val="334155"/>
                </a:solidFill>
              </a:rPr>
              <a:t>the correct information whether that information is generated by our own cognition or not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Another Example – Teaching Statistics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744387" y="822960"/>
            <a:ext cx="433215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Teaching has always involved some type of external technology</a:t>
            </a:r>
            <a:endParaRPr lang="en-US" sz="1800" dirty="0"/>
          </a:p>
        </p:txBody>
      </p:sp>
      <p:pic>
        <p:nvPicPr>
          <p:cNvPr id="10" name="Picture 9" descr="A person pointing at a whiteboard&#10;&#10;AI-generated content may be incorrect.">
            <a:extLst>
              <a:ext uri="{FF2B5EF4-FFF2-40B4-BE49-F238E27FC236}">
                <a16:creationId xmlns:a16="http://schemas.microsoft.com/office/drawing/2014/main" id="{BF3F44FC-D868-EAA9-B541-585AA06EE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99" y="1096109"/>
            <a:ext cx="4426923" cy="2951282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1ED745D0-83AB-9AC5-B9CB-2A64D84E24AA}"/>
              </a:ext>
            </a:extLst>
          </p:cNvPr>
          <p:cNvSpPr/>
          <p:nvPr/>
        </p:nvSpPr>
        <p:spPr>
          <a:xfrm>
            <a:off x="6323594" y="1548047"/>
            <a:ext cx="2552637" cy="452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</a:rPr>
              <a:t>Whiteboard/Blackboard</a:t>
            </a:r>
            <a:endParaRPr lang="en-US" sz="18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6B8BA84F-6B27-E15C-BA9E-906119E0D936}"/>
              </a:ext>
            </a:extLst>
          </p:cNvPr>
          <p:cNvSpPr/>
          <p:nvPr/>
        </p:nvSpPr>
        <p:spPr>
          <a:xfrm>
            <a:off x="6346909" y="2279567"/>
            <a:ext cx="1941226" cy="431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Charts &amp; Graphs</a:t>
            </a:r>
            <a:endParaRPr lang="en-US" sz="1800" b="1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0AF412A3-740B-8F29-37AA-C77168770CB2}"/>
              </a:ext>
            </a:extLst>
          </p:cNvPr>
          <p:cNvSpPr/>
          <p:nvPr/>
        </p:nvSpPr>
        <p:spPr>
          <a:xfrm>
            <a:off x="6378215" y="3215671"/>
            <a:ext cx="1221697" cy="431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</a:rPr>
              <a:t>Textbooks</a:t>
            </a:r>
            <a:endParaRPr lang="en-US" sz="1800" b="1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D5C07C0E-1DA5-7995-DEA4-231A9F52AF7E}"/>
              </a:ext>
            </a:extLst>
          </p:cNvPr>
          <p:cNvSpPr/>
          <p:nvPr/>
        </p:nvSpPr>
        <p:spPr>
          <a:xfrm>
            <a:off x="6680440" y="4320540"/>
            <a:ext cx="127416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Computer Software</a:t>
            </a:r>
            <a:endParaRPr lang="en-US" sz="18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99DD48-C937-E797-D6F4-1CA8DD7B6AF2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669569" y="1774320"/>
            <a:ext cx="1654025" cy="354255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E721BA-BEA5-84C2-71B3-CAEBC581FA72}"/>
              </a:ext>
            </a:extLst>
          </p:cNvPr>
          <p:cNvCxnSpPr>
            <a:cxnSpLocks/>
          </p:cNvCxnSpPr>
          <p:nvPr/>
        </p:nvCxnSpPr>
        <p:spPr>
          <a:xfrm flipV="1">
            <a:off x="4669569" y="2505840"/>
            <a:ext cx="1654025" cy="133504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ADE7FB-CF64-4FF4-B389-41A5DB2D2389}"/>
              </a:ext>
            </a:extLst>
          </p:cNvPr>
          <p:cNvCxnSpPr>
            <a:cxnSpLocks/>
          </p:cNvCxnSpPr>
          <p:nvPr/>
        </p:nvCxnSpPr>
        <p:spPr>
          <a:xfrm>
            <a:off x="4641876" y="3258429"/>
            <a:ext cx="1617778" cy="189313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897210-9CCB-06A8-3E53-58F14BBBA597}"/>
              </a:ext>
            </a:extLst>
          </p:cNvPr>
          <p:cNvCxnSpPr>
            <a:cxnSpLocks/>
          </p:cNvCxnSpPr>
          <p:nvPr/>
        </p:nvCxnSpPr>
        <p:spPr>
          <a:xfrm>
            <a:off x="4589380" y="3840546"/>
            <a:ext cx="2108969" cy="805657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D836CB-C874-20F1-5A47-EB7EE3E7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9C7C67-54C4-02E9-D3E3-CD1EB551041A}"/>
              </a:ext>
            </a:extLst>
          </p:cNvPr>
          <p:cNvSpPr/>
          <p:nvPr/>
        </p:nvSpPr>
        <p:spPr>
          <a:xfrm>
            <a:off x="620443" y="24478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Another Example – Teaching Statistics</a:t>
            </a:r>
            <a:endParaRPr lang="en-US" sz="3200" dirty="0"/>
          </a:p>
        </p:txBody>
      </p:sp>
      <p:pic>
        <p:nvPicPr>
          <p:cNvPr id="10" name="Picture 9" descr="A person pointing at a whiteboard&#10;&#10;AI-generated content may be incorrect.">
            <a:extLst>
              <a:ext uri="{FF2B5EF4-FFF2-40B4-BE49-F238E27FC236}">
                <a16:creationId xmlns:a16="http://schemas.microsoft.com/office/drawing/2014/main" id="{5A1FAC9B-BC52-7F88-7F28-04092F9FF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7" y="1259174"/>
            <a:ext cx="4426923" cy="2951282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EC322FB3-6112-CF88-3334-A6E257A789C4}"/>
              </a:ext>
            </a:extLst>
          </p:cNvPr>
          <p:cNvSpPr/>
          <p:nvPr/>
        </p:nvSpPr>
        <p:spPr>
          <a:xfrm>
            <a:off x="4934312" y="893414"/>
            <a:ext cx="3203848" cy="990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Is teaching statistics the </a:t>
            </a:r>
            <a:r>
              <a:rPr lang="en-US" b="1" dirty="0">
                <a:solidFill>
                  <a:srgbClr val="1E3A8A"/>
                </a:solidFill>
              </a:rPr>
              <a:t>transfer of information from my mind to my student’s mind?  </a:t>
            </a:r>
            <a:endParaRPr lang="en-US" sz="1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0448958-8420-2195-B0A5-B9A6122A1CE2}"/>
              </a:ext>
            </a:extLst>
          </p:cNvPr>
          <p:cNvSpPr/>
          <p:nvPr/>
        </p:nvSpPr>
        <p:spPr>
          <a:xfrm>
            <a:off x="5364080" y="2075092"/>
            <a:ext cx="3203848" cy="2823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Or is teaching statistics </a:t>
            </a:r>
            <a:r>
              <a:rPr lang="en-US" sz="1800" b="1" i="1" dirty="0">
                <a:solidFill>
                  <a:srgbClr val="1E3A8A"/>
                </a:solidFill>
              </a:rPr>
              <a:t>pointing</a:t>
            </a:r>
            <a:r>
              <a:rPr lang="en-US" sz="1800" b="1" dirty="0">
                <a:solidFill>
                  <a:srgbClr val="1E3A8A"/>
                </a:solidFill>
              </a:rPr>
              <a:t> my students to the right information</a:t>
            </a:r>
          </a:p>
          <a:p>
            <a:pPr marL="0" indent="0">
              <a:buNone/>
            </a:pPr>
            <a:endParaRPr lang="en-US" b="1" dirty="0">
              <a:solidFill>
                <a:srgbClr val="1E3A8A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</a:rPr>
              <a:t>Placing them in a </a:t>
            </a:r>
            <a:r>
              <a:rPr lang="en-US" b="1" i="1" dirty="0">
                <a:solidFill>
                  <a:srgbClr val="1E3A8A"/>
                </a:solidFill>
              </a:rPr>
              <a:t>feedback loop </a:t>
            </a:r>
            <a:r>
              <a:rPr lang="en-US" b="1" dirty="0">
                <a:solidFill>
                  <a:srgbClr val="1E3A8A"/>
                </a:solidFill>
              </a:rPr>
              <a:t>between accurate external sources of information and their own minds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9402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" cy="45720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0" y="164592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93B"/>
                </a:solidFill>
              </a:rPr>
              <a:t>"We use intelligence to structure our environment so that we can succeed with </a:t>
            </a:r>
            <a:r>
              <a:rPr lang="en-US" sz="2200" b="1" i="1" dirty="0">
                <a:solidFill>
                  <a:srgbClr val="1E293B"/>
                </a:solidFill>
              </a:rPr>
              <a:t>less</a:t>
            </a:r>
            <a:r>
              <a:rPr lang="en-US" sz="2200" dirty="0">
                <a:solidFill>
                  <a:srgbClr val="1E293B"/>
                </a:solidFill>
              </a:rPr>
              <a:t> intelligence. Our brains make the world smart so that we can be dumb in peace!"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79576" y="33604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Being There, p. 180</a:t>
            </a:r>
            <a:endParaRPr lang="en-US" sz="12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C693705-E0E8-AABC-283F-F1A4BF9924E2}"/>
              </a:ext>
            </a:extLst>
          </p:cNvPr>
          <p:cNvSpPr/>
          <p:nvPr/>
        </p:nvSpPr>
        <p:spPr>
          <a:xfrm>
            <a:off x="1179576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The Extended Mind</a:t>
            </a:r>
            <a:endParaRPr lang="en-US" sz="32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5385FA0-0316-F84A-468A-EC0615D5B25C}"/>
              </a:ext>
            </a:extLst>
          </p:cNvPr>
          <p:cNvSpPr/>
          <p:nvPr/>
        </p:nvSpPr>
        <p:spPr>
          <a:xfrm>
            <a:off x="1618488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E3A8A"/>
                </a:solidFill>
              </a:rPr>
              <a:t>Andy Clark's Vision (1997)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The Extended Mind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E3A8A"/>
                </a:solidFill>
              </a:rPr>
              <a:t>Andy Clark's Vision (1997)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14630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Human cognition extends beyond the biological brain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External tools and technologies function as part of our cognitive system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The boundary between mind and world is porous and dynamic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Technology has always been integrated into human thinking processes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51875" y="3657600"/>
            <a:ext cx="7112833" cy="1041816"/>
          </a:xfrm>
          <a:prstGeom prst="rect">
            <a:avLst/>
          </a:prstGeom>
          <a:solidFill>
            <a:srgbClr val="06B6D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90771" y="382848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93B"/>
                </a:solidFill>
              </a:rPr>
              <a:t>Implication: AI can be understood as the latest evolution in cognitive extension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044D7-D3EC-032A-87E8-6CE49B02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E95AE8-B3B3-BC3E-9C86-D5F5A3AD2D07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The Challenge Before Us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EA74DB-E8DB-191D-5384-B4EB68F301AD}"/>
              </a:ext>
            </a:extLst>
          </p:cNvPr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78A6F3-9C25-83E5-AAB9-A23985F5E9DC}"/>
              </a:ext>
            </a:extLst>
          </p:cNvPr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1D0619-1F68-D2A7-A27B-45545A34B13C}"/>
              </a:ext>
            </a:extLst>
          </p:cNvPr>
          <p:cNvSpPr/>
          <p:nvPr/>
        </p:nvSpPr>
        <p:spPr>
          <a:xfrm>
            <a:off x="713232" y="11887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Human cognition has always been augmented through external memory sources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5A2244A-37F9-2BFE-F686-E46A5BD93FE6}"/>
              </a:ext>
            </a:extLst>
          </p:cNvPr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04566F-4421-4517-8AEE-CE4301B26D98}"/>
              </a:ext>
            </a:extLst>
          </p:cNvPr>
          <p:cNvSpPr/>
          <p:nvPr/>
        </p:nvSpPr>
        <p:spPr>
          <a:xfrm>
            <a:off x="475488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6E50664-77BD-95F7-1752-F49AA6152FA0}"/>
              </a:ext>
            </a:extLst>
          </p:cNvPr>
          <p:cNvSpPr/>
          <p:nvPr/>
        </p:nvSpPr>
        <p:spPr>
          <a:xfrm>
            <a:off x="5010912" y="11887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AI poses a unique challenge: summarizing and packaging information in revolutionary ways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1B1FA74-0177-11A8-A095-8083A7935CEE}"/>
              </a:ext>
            </a:extLst>
          </p:cNvPr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</a:rPr>
              <a:t>Central Question:</a:t>
            </a:r>
            <a:endParaRPr lang="en-US" sz="2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492346E-F490-1D48-9CCF-935F03C963F9}"/>
              </a:ext>
            </a:extLst>
          </p:cNvPr>
          <p:cNvSpPr/>
          <p:nvPr/>
        </p:nvSpPr>
        <p:spPr>
          <a:xfrm>
            <a:off x="1371600" y="3474720"/>
            <a:ext cx="6400800" cy="1097280"/>
          </a:xfrm>
          <a:prstGeom prst="rect">
            <a:avLst/>
          </a:prstGeom>
          <a:solidFill>
            <a:srgbClr val="1E3A8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51C89B3-6218-D72F-BE2E-97FEF7066AB8}"/>
              </a:ext>
            </a:extLst>
          </p:cNvPr>
          <p:cNvSpPr/>
          <p:nvPr/>
        </p:nvSpPr>
        <p:spPr>
          <a:xfrm>
            <a:off x="1554480" y="35661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</a:rPr>
              <a:t>What is the role of human cognition as a node in this new network of knowledge with Artificial Intelligence?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19360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Computational Thinking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E3A8A"/>
                </a:solidFill>
              </a:rPr>
              <a:t>Jeannette Wing's Vision (2006)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16002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Computer science provides a way of thinking from which every discipline could benefit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368446"/>
            <a:ext cx="6400800" cy="2705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1. Decomposition– Breaking down complex problems into smaller, more manageable parts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2. Pattern Recognition – Identifying similarities, trends, or regularities in data or problems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3. Abstraction– Focusing on the essential information while filtering out irrelevant details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4. Algorithmic Thinking – Developing step-by-step solutions or rules to solve problems</a:t>
            </a:r>
            <a:endParaRPr lang="en-US" sz="16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8456BD42-47FC-123D-6B1B-26F9DA8CE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08" y="320040"/>
            <a:ext cx="54864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A921C-363B-4929-3D1D-8E125B462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EF8456-0DF2-9A98-FA06-E4AF4CEC00B4}"/>
              </a:ext>
            </a:extLst>
          </p:cNvPr>
          <p:cNvSpPr/>
          <p:nvPr/>
        </p:nvSpPr>
        <p:spPr>
          <a:xfrm>
            <a:off x="1645920" y="215858"/>
            <a:ext cx="7262734" cy="665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Computational Thinking and Positive Educational Outcomes</a:t>
            </a:r>
            <a:endParaRPr lang="en-US" sz="32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46AB04A2-CB49-A41D-0FAA-83C13FD8E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31" y="223353"/>
            <a:ext cx="548640" cy="548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D2AD4E-A13C-6C99-4EB3-CE45A4AA7EA3}"/>
              </a:ext>
            </a:extLst>
          </p:cNvPr>
          <p:cNvSpPr txBox="1"/>
          <p:nvPr/>
        </p:nvSpPr>
        <p:spPr>
          <a:xfrm>
            <a:off x="738640" y="1417588"/>
            <a:ext cx="76667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Computational thinking is increasingly recognized as a 'new literacy of the 21st century’.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</a:rPr>
              <a:t>Cognitive Skill Development: Meta-analysis shows significant improvements in problem-solving, planning, inhibition, and working memory.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</a:rPr>
              <a:t>Critical Thinking: Increases students' critical and analytical thinking skills, which are vital for modern learning.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</a:rPr>
              <a:t>Creative Thinking: Learning to program and engage with CT concepts is linked to higher achievement in creative thinking and language skills.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3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86329-AAB6-2E40-0563-21DB62E5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9F628C-DEB9-7677-F607-FF5E8B81F23A}"/>
              </a:ext>
            </a:extLst>
          </p:cNvPr>
          <p:cNvSpPr/>
          <p:nvPr/>
        </p:nvSpPr>
        <p:spPr>
          <a:xfrm>
            <a:off x="1645920" y="215858"/>
            <a:ext cx="7262734" cy="665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Computational Thinking and Positive Educational Outcomes</a:t>
            </a:r>
            <a:endParaRPr lang="en-US" sz="32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ADDCF90B-80D9-1EFD-FCBC-F1607D9FB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31" y="223353"/>
            <a:ext cx="548640" cy="548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6B860B-0A7D-F573-0BA9-AD933F34567A}"/>
              </a:ext>
            </a:extLst>
          </p:cNvPr>
          <p:cNvSpPr txBox="1"/>
          <p:nvPr/>
        </p:nvSpPr>
        <p:spPr>
          <a:xfrm>
            <a:off x="738640" y="1417588"/>
            <a:ext cx="76667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STEM and Science Education Outcomes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</a:rPr>
              <a:t>Mathematics: Significantly enhances student engagement and problem-solving abilities; strong correlation between CT proficiency and math achievement.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</a:rPr>
              <a:t>Science and Technical Problem-Solving: Improves capacity to apply computational approaches to scientific problems, preparing students for advanced technical careers.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</a:rPr>
              <a:t>Innovation: Fosters innovation skills by moving students from passive users to active producers of technology.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74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Computational Thinking and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Why is this Helpful?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1. Understanding Computation helps us understand AI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Learning the basic skills of computer science helps us understand what AI is doing and how to ask AI better questions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31089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2. AI provides an onramp to computational thinking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Don’t need to understand the details of various computer language, can understand the parameters and jump in and create things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FFB664-60CF-3AD3-9E16-1E7A07B98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F3552B-B40B-5D7B-FD69-3381DCFCC6B4}"/>
              </a:ext>
            </a:extLst>
          </p:cNvPr>
          <p:cNvSpPr/>
          <p:nvPr/>
        </p:nvSpPr>
        <p:spPr>
          <a:xfrm>
            <a:off x="202367" y="320040"/>
            <a:ext cx="3889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Example: Claude Code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779C3C-45E2-526D-DEA2-C6E80F603FA3}"/>
              </a:ext>
            </a:extLst>
          </p:cNvPr>
          <p:cNvSpPr/>
          <p:nvPr/>
        </p:nvSpPr>
        <p:spPr>
          <a:xfrm>
            <a:off x="914400" y="1120140"/>
            <a:ext cx="7315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851E6A-DFA9-7C7E-2B0A-A19D769D1CFF}"/>
              </a:ext>
            </a:extLst>
          </p:cNvPr>
          <p:cNvSpPr/>
          <p:nvPr/>
        </p:nvSpPr>
        <p:spPr>
          <a:xfrm>
            <a:off x="914400" y="109728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86718E3-2236-9D67-C2DB-F17056A1E66F}"/>
              </a:ext>
            </a:extLst>
          </p:cNvPr>
          <p:cNvSpPr/>
          <p:nvPr/>
        </p:nvSpPr>
        <p:spPr>
          <a:xfrm>
            <a:off x="1188720" y="128016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1. Started Using Claude Code for Data Analysis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In a way, it is truly magical, writing some things I need from scratch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ABB4B4E-7F6E-470B-C98D-87F70CB045D8}"/>
              </a:ext>
            </a:extLst>
          </p:cNvPr>
          <p:cNvSpPr/>
          <p:nvPr/>
        </p:nvSpPr>
        <p:spPr>
          <a:xfrm>
            <a:off x="914400" y="2377440"/>
            <a:ext cx="7315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0C634B-6BB0-E217-6937-D7587F418EFE}"/>
              </a:ext>
            </a:extLst>
          </p:cNvPr>
          <p:cNvSpPr/>
          <p:nvPr/>
        </p:nvSpPr>
        <p:spPr>
          <a:xfrm>
            <a:off x="914400" y="237744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D4EDF8-5013-650B-F549-CC746CC2D682}"/>
              </a:ext>
            </a:extLst>
          </p:cNvPr>
          <p:cNvSpPr/>
          <p:nvPr/>
        </p:nvSpPr>
        <p:spPr>
          <a:xfrm>
            <a:off x="1188720" y="256032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2. Still needs a lot of supervision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Works great doing the things computers are good at: repetitious and boring tasks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34CCB1B-59D2-3166-0867-4DCB93D66FB8}"/>
              </a:ext>
            </a:extLst>
          </p:cNvPr>
          <p:cNvSpPr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50F481C-93C8-42AC-1C47-19F7CDAB60F0}"/>
              </a:ext>
            </a:extLst>
          </p:cNvPr>
          <p:cNvSpPr/>
          <p:nvPr/>
        </p:nvSpPr>
        <p:spPr>
          <a:xfrm>
            <a:off x="914400" y="36576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F2F1C97-0CE5-9EBA-3475-0864EB9A492F}"/>
              </a:ext>
            </a:extLst>
          </p:cNvPr>
          <p:cNvSpPr/>
          <p:nvPr/>
        </p:nvSpPr>
        <p:spPr>
          <a:xfrm>
            <a:off x="1188720" y="384048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3. I would say I’m learning more about computers, not less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Claude is great at answering questions, and provides detailed workflows on what is happening</a:t>
            </a:r>
            <a:endParaRPr lang="en-US" sz="1400" dirty="0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E30122-EED7-BDF7-6DEC-ECF71FCAF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027" y="0"/>
            <a:ext cx="3433973" cy="219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5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Should education be fully digital?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55448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Embodied approaches to human learning provide better educational outcomes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365760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Key Question: How do we maintain human agency and creativity within this AI-augmented network?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8A6A39-6F70-7D57-C1F6-E8B26275C573}"/>
              </a:ext>
            </a:extLst>
          </p:cNvPr>
          <p:cNvSpPr txBox="1"/>
          <p:nvPr/>
        </p:nvSpPr>
        <p:spPr>
          <a:xfrm>
            <a:off x="1376455" y="1920240"/>
            <a:ext cx="61264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 by Zhang et. al. (2024) explored the use of different types of representations of a problem in statistics</a:t>
            </a:r>
          </a:p>
          <a:p>
            <a:pPr marL="285750" indent="-285750">
              <a:buFontTx/>
              <a:buChar char="-"/>
            </a:pPr>
            <a:r>
              <a:rPr lang="en-US" dirty="0"/>
              <a:t>Understanding the normal curve </a:t>
            </a:r>
          </a:p>
          <a:p>
            <a:pPr marL="285750" indent="-285750">
              <a:buFontTx/>
              <a:buChar char="-"/>
            </a:pPr>
            <a:r>
              <a:rPr lang="en-US" dirty="0"/>
              <a:t>3 Conditions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Drawing with a hand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Drawing only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Static Slides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pic>
        <p:nvPicPr>
          <p:cNvPr id="13" name="Graphic 12" descr="Man with solid fill">
            <a:extLst>
              <a:ext uri="{FF2B5EF4-FFF2-40B4-BE49-F238E27FC236}">
                <a16:creationId xmlns:a16="http://schemas.microsoft.com/office/drawing/2014/main" id="{526B04A5-E333-0872-E7C0-28DA6B337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lage of a graph&#10;&#10;AI-generated content may be incorrect.">
            <a:extLst>
              <a:ext uri="{FF2B5EF4-FFF2-40B4-BE49-F238E27FC236}">
                <a16:creationId xmlns:a16="http://schemas.microsoft.com/office/drawing/2014/main" id="{2494366E-AF97-5624-1A9A-BF770D165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466" y="0"/>
            <a:ext cx="633706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557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436D8-4D5A-38D2-D6F2-A89777AB5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52859E-BA2F-8391-21BE-6770DA8B5A58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Should education be fully digital?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E198C45-F962-D125-2741-7B190E899B56}"/>
              </a:ext>
            </a:extLst>
          </p:cNvPr>
          <p:cNvSpPr/>
          <p:nvPr/>
        </p:nvSpPr>
        <p:spPr>
          <a:xfrm>
            <a:off x="155448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Embodied approaches to human learning provide better educational outcomes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AB45778-E2C6-E39A-08A1-11DAC3A288C3}"/>
              </a:ext>
            </a:extLst>
          </p:cNvPr>
          <p:cNvSpPr/>
          <p:nvPr/>
        </p:nvSpPr>
        <p:spPr>
          <a:xfrm>
            <a:off x="1554480" y="365760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Key Question: How do we maintain human agency and creativity within this AI-augmented network?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112A33-8629-3F76-C3C1-0E2F9A44D4C4}"/>
              </a:ext>
            </a:extLst>
          </p:cNvPr>
          <p:cNvSpPr txBox="1"/>
          <p:nvPr/>
        </p:nvSpPr>
        <p:spPr>
          <a:xfrm>
            <a:off x="1554480" y="1773936"/>
            <a:ext cx="61264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Zhang et. al. (2024)</a:t>
            </a:r>
          </a:p>
          <a:p>
            <a:pPr marL="285750" indent="-285750">
              <a:buFontTx/>
              <a:buChar char="-"/>
            </a:pPr>
            <a:r>
              <a:rPr lang="en-US" dirty="0"/>
              <a:t>Students performed best on a post-test of their understanding of the material in the hand + drawing condition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Why? – Embodied approaches rely on sensorimotor systems that are already well established and easier to learn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Produces less cognitive load, making it easier to understand the new information</a:t>
            </a:r>
          </a:p>
          <a:p>
            <a:endParaRPr lang="en-US" dirty="0"/>
          </a:p>
        </p:txBody>
      </p:sp>
      <p:pic>
        <p:nvPicPr>
          <p:cNvPr id="3" name="Graphic 2" descr="Man with solid fill">
            <a:extLst>
              <a:ext uri="{FF2B5EF4-FFF2-40B4-BE49-F238E27FC236}">
                <a16:creationId xmlns:a16="http://schemas.microsoft.com/office/drawing/2014/main" id="{BE76860C-5DC6-DFB4-03DB-37D381AB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9144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7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BDD0F-B9CD-1C1B-47F0-58EEF31C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7DF425-2E7D-CE7D-D22D-66E26EC2FE93}"/>
              </a:ext>
            </a:extLst>
          </p:cNvPr>
          <p:cNvSpPr/>
          <p:nvPr/>
        </p:nvSpPr>
        <p:spPr>
          <a:xfrm>
            <a:off x="278246" y="70222"/>
            <a:ext cx="39723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Implications</a:t>
            </a:r>
            <a:endParaRPr lang="en-US" sz="32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77AF247-4E0B-3802-1B07-F22DB2EAA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870929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57421D2-8765-7C4D-6A3B-5DE226AA7E3C}"/>
              </a:ext>
            </a:extLst>
          </p:cNvPr>
          <p:cNvSpPr/>
          <p:nvPr/>
        </p:nvSpPr>
        <p:spPr>
          <a:xfrm>
            <a:off x="2194560" y="75438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Extended Mind Theory (Andy Clark, 1997)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Knowledge is extended outside the mind and always has been, AI is the next extension</a:t>
            </a:r>
            <a:endParaRPr lang="en-US" sz="18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99BC214E-32E9-3493-6AC5-AFFE35F27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087" y="1783080"/>
            <a:ext cx="548640" cy="54864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36DC43B5-07CA-C3A1-3321-7BA5EA42DEDA}"/>
              </a:ext>
            </a:extLst>
          </p:cNvPr>
          <p:cNvSpPr/>
          <p:nvPr/>
        </p:nvSpPr>
        <p:spPr>
          <a:xfrm>
            <a:off x="2353455" y="166878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Computational Thinking (Wing, 2006)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 way of thinking that can help us in education more broadly, but may also provide a leg up for understanding AI</a:t>
            </a:r>
            <a:endParaRPr lang="en-US" sz="18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6F1C49F-8ADE-CE77-B527-C7549DA4E16F}"/>
              </a:ext>
            </a:extLst>
          </p:cNvPr>
          <p:cNvSpPr/>
          <p:nvPr/>
        </p:nvSpPr>
        <p:spPr>
          <a:xfrm>
            <a:off x="914400" y="3770258"/>
            <a:ext cx="7315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4DE0F85-8E19-2831-FFBB-8E46FD4BFDDE}"/>
              </a:ext>
            </a:extLst>
          </p:cNvPr>
          <p:cNvSpPr/>
          <p:nvPr/>
        </p:nvSpPr>
        <p:spPr>
          <a:xfrm>
            <a:off x="1188720" y="3953138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Together, these frameworks provide strategies for using AI as augmentation without diminishing human cognition's role in the knowledge network</a:t>
            </a:r>
            <a:endParaRPr lang="en-US" sz="1400" dirty="0"/>
          </a:p>
        </p:txBody>
      </p: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F8024E49-DD1B-3978-E43C-5A3412A1E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0160" y="2628079"/>
            <a:ext cx="914400" cy="914400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B2097745-ED66-3589-2BF8-77D2F7B7DDDE}"/>
              </a:ext>
            </a:extLst>
          </p:cNvPr>
          <p:cNvSpPr/>
          <p:nvPr/>
        </p:nvSpPr>
        <p:spPr>
          <a:xfrm>
            <a:off x="2353455" y="2741558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</a:rPr>
              <a:t>Embodied Learning</a:t>
            </a:r>
            <a:r>
              <a:rPr lang="en-US" sz="1800" b="1" dirty="0">
                <a:solidFill>
                  <a:srgbClr val="1E3A8A"/>
                </a:solidFill>
              </a:rPr>
              <a:t> (</a:t>
            </a:r>
            <a:r>
              <a:rPr lang="en-US" b="1" dirty="0">
                <a:solidFill>
                  <a:srgbClr val="1E3A8A"/>
                </a:solidFill>
              </a:rPr>
              <a:t>Zhang et. al.</a:t>
            </a:r>
            <a:r>
              <a:rPr lang="en-US" sz="1800" b="1" dirty="0">
                <a:solidFill>
                  <a:srgbClr val="1E3A8A"/>
                </a:solidFill>
              </a:rPr>
              <a:t>, 2024)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Embodied approaches to learning will continue to play an important role in learning new information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8807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several images&#10;&#10;AI-generated content may be incorrect.">
            <a:extLst>
              <a:ext uri="{FF2B5EF4-FFF2-40B4-BE49-F238E27FC236}">
                <a16:creationId xmlns:a16="http://schemas.microsoft.com/office/drawing/2014/main" id="{D2D2B6A0-5CAA-1425-4F2A-7D3B0C804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86" y="0"/>
            <a:ext cx="7772400" cy="498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98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Maintaining Human Centrality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3A8A"/>
                </a:solidFill>
              </a:rPr>
              <a:t>The Goal: AI as Augmentation, Not Replacement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73152" cy="10972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27632" y="1645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Human cognition must remain a vital node in the distributed knowledge network—not merely a passive recipient of AI-generated content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Critical Considerations: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Preserving human creativity and divergent thinking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Maintaining critical evaluation skills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Avoiding cognitive over-reliance on AI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Ensuring humans shape the questions AI answers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4CF30F-593A-F8C5-D3AE-B1CDEBE34F96}"/>
              </a:ext>
            </a:extLst>
          </p:cNvPr>
          <p:cNvSpPr txBox="1"/>
          <p:nvPr/>
        </p:nvSpPr>
        <p:spPr>
          <a:xfrm>
            <a:off x="534074" y="566442"/>
            <a:ext cx="5672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Questions?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ECCA9-3592-7B4D-246D-D1B927F3A424}"/>
              </a:ext>
            </a:extLst>
          </p:cNvPr>
          <p:cNvSpPr txBox="1"/>
          <p:nvPr/>
        </p:nvSpPr>
        <p:spPr>
          <a:xfrm>
            <a:off x="396510" y="1447988"/>
            <a:ext cx="3641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James Van Slyke</a:t>
            </a:r>
          </a:p>
          <a:p>
            <a:r>
              <a:rPr lang="en-US" sz="2400" dirty="0" err="1"/>
              <a:t>james.vanslyke@fresno.edu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61513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56011" y="600429"/>
            <a:ext cx="7315200" cy="4543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Clark, A. (1997). </a:t>
            </a:r>
            <a:r>
              <a:rPr lang="en-US" sz="1200" i="1" dirty="0">
                <a:solidFill>
                  <a:srgbClr val="334155"/>
                </a:solidFill>
              </a:rPr>
              <a:t>Being There: Putting Brain, Body, and World Together Again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. MIT Press.</a:t>
            </a:r>
          </a:p>
          <a:p>
            <a:pPr marL="0" indent="0">
              <a:buNone/>
            </a:pPr>
            <a:endParaRPr lang="en-US" sz="1200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Hsu, T. C., Abelson, H., &amp; Lao, N. W. (2021). A meta-analysis of the effects of game-based learning on students’ computational thinking. _Educational Research Review_, 34, 100408.</a:t>
            </a:r>
          </a:p>
          <a:p>
            <a:pPr marL="0" indent="0">
              <a:buNone/>
            </a:pPr>
            <a:endParaRPr lang="en-US" sz="1200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Li, F., Wang, X., &amp; Tan, W. (2020). A meta-analysis of the effects of computational thinking on students’ learning outcomes. _Journal of Educational Computing Research_, 58(7), 1264-1289.</a:t>
            </a:r>
          </a:p>
          <a:p>
            <a:pPr marL="0" indent="0">
              <a:buNone/>
            </a:pPr>
            <a:endParaRPr lang="en-US" sz="1200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Scherer, R., Siddiq, F., &amp; Sánchez Viveros, B. (2019). The cognitive benefits of learning computer programming: A meta-analysis of transfer effects. _Journal of Educational Psychology_, 111(5), 764–792.</a:t>
            </a:r>
          </a:p>
          <a:p>
            <a:pPr marL="0" indent="0">
              <a:buNone/>
            </a:pPr>
            <a:endParaRPr lang="en-US" sz="1200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en-US" sz="1200" dirty="0"/>
              <a:t>Su, J., &amp; Yang, W. (2022). Educational robotics and computational thinking in early childhood education: A meta-analysis. _Computers &amp; Education_, 181, 104461.</a:t>
            </a:r>
          </a:p>
          <a:p>
            <a:pPr marL="0" indent="0">
              <a:buNone/>
            </a:pPr>
            <a:r>
              <a:rPr lang="en-US" sz="500" dirty="0">
                <a:solidFill>
                  <a:srgbClr val="334155"/>
                </a:solidFill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Wing, J. M. (2006). Computational thinking.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Communications of the ACM, 49(3), 33-35.</a:t>
            </a:r>
          </a:p>
          <a:p>
            <a:pPr marL="0" indent="0">
              <a:buNone/>
            </a:pPr>
            <a:endParaRPr lang="en-US" sz="1200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en-US" sz="1200" dirty="0"/>
              <a:t>Zhang, I. (</a:t>
            </a:r>
            <a:r>
              <a:rPr lang="en-US" sz="1200" dirty="0" err="1"/>
              <a:t>Yunyi</a:t>
            </a:r>
            <a:r>
              <a:rPr lang="en-US" sz="1200" dirty="0"/>
              <a:t>), Guo, X. H., Son, J. Y., Blank, I. A. &amp; Stigler, J. W. (2025). Watching videos of a drawing hand improves students’ understanding of the normal probability distribution. Memory &amp; Cognition, 53(1), 262–281. </a:t>
            </a:r>
            <a:r>
              <a:rPr lang="en-US" sz="1200" dirty="0">
                <a:hlinkClick r:id="rId3"/>
              </a:rPr>
              <a:t>https://doi.org/10.3758/s13421-024-01526-7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r>
              <a:rPr lang="en-US" sz="1200" dirty="0"/>
              <a:t>Zhang, L., &amp; Nouri, J. (2019). A systematic review of learning computational thinking through Scratch in K-9 education. _Computers in Human Behavior_, 94, 271-292. 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CCFE707-6D49-C2F7-2914-E43E246958A0}"/>
              </a:ext>
            </a:extLst>
          </p:cNvPr>
          <p:cNvSpPr/>
          <p:nvPr/>
        </p:nvSpPr>
        <p:spPr>
          <a:xfrm>
            <a:off x="141611" y="6635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References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4584</TotalTime>
  <Words>1402</Words>
  <Application>Microsoft Macintosh PowerPoint</Application>
  <PresentationFormat>On-screen Show (16:9)</PresentationFormat>
  <Paragraphs>146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Thinking, AI, and the Extended Mind</dc:title>
  <dc:subject>PptxGenJS Presentation</dc:subject>
  <dc:creator>James</dc:creator>
  <cp:lastModifiedBy>James A. Van Slyke</cp:lastModifiedBy>
  <cp:revision>8</cp:revision>
  <dcterms:created xsi:type="dcterms:W3CDTF">2026-02-04T18:50:06Z</dcterms:created>
  <dcterms:modified xsi:type="dcterms:W3CDTF">2026-02-27T22:35:30Z</dcterms:modified>
</cp:coreProperties>
</file>